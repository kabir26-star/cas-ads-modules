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y="5143500" cx="9144000"/>
  <p:notesSz cx="6858000" cy="9144000"/>
  <p:embeddedFontLst>
    <p:embeddedFont>
      <p:font typeface="Play"/>
      <p:regular r:id="rId35"/>
      <p:bold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5098008-D8F0-4570-A9A0-5B3463729E9F}">
  <a:tblStyle styleId="{E5098008-D8F0-4570-A9A0-5B3463729E9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font" Target="fonts/Play-regular.fntdata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36" Type="http://schemas.openxmlformats.org/officeDocument/2006/relationships/font" Target="fonts/Play-bold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c51bee606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ac51bee606_2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c51bee606_2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ac51bee606_2_10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9a6914cb3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9a6914cb3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9a6914cb3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9a6914cb30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aca0314366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aca0314366_1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9a6914cb3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9a6914cb30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a6914cb30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9a6914cb30_0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d891a9174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d891a91741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9a6914cb30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9a6914cb30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9a6914cb30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9a6914cb30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9a6914cb30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9a6914cb30_0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d64e7d7c70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d64e7d7c70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aca0314366_2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aca0314366_2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aca0314366_2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3aca0314366_2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9f241561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d9f241561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d9f241561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d9f241561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9a6914cb30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9a6914cb30_0_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d64e7d7c7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g3d64e7d7c7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d891a9174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d891a9174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9a6914cb30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9a6914cb30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9a6914cb30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9a6914cb30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9a6914cb30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9a6914cb30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dc710d387c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dc710d387c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9a6914cb30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9a6914cb30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9a6914cb30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9a6914cb30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96f9a4f237_4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96f9a4f237_4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aca0314366_2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g3aca0314366_2_1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www.kaggle.com/datasets/vanpatangan/divorce-prediction/data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0" y="0"/>
            <a:ext cx="9144000" cy="514350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5"/>
          <p:cNvSpPr/>
          <p:nvPr/>
        </p:nvSpPr>
        <p:spPr>
          <a:xfrm>
            <a:off x="0" y="-1"/>
            <a:ext cx="9144000" cy="51435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101010 data lines to infinity" id="131" name="Google Shape;131;p25"/>
          <p:cNvPicPr preferRelativeResize="0"/>
          <p:nvPr/>
        </p:nvPicPr>
        <p:blipFill rotWithShape="1">
          <a:blip r:embed="rId3">
            <a:alphaModFix amt="10000"/>
          </a:blip>
          <a:srcRect b="0" l="0" r="0" t="13127"/>
          <a:stretch/>
        </p:blipFill>
        <p:spPr>
          <a:xfrm>
            <a:off x="15" y="-1"/>
            <a:ext cx="914398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5"/>
          <p:cNvSpPr txBox="1"/>
          <p:nvPr>
            <p:ph type="ctrTitle"/>
          </p:nvPr>
        </p:nvSpPr>
        <p:spPr>
          <a:xfrm>
            <a:off x="630325" y="943825"/>
            <a:ext cx="7676100" cy="2052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lay"/>
              <a:buNone/>
            </a:pPr>
            <a:r>
              <a:rPr lang="en-GB" sz="6000">
                <a:solidFill>
                  <a:schemeClr val="dk2"/>
                </a:solidFill>
              </a:rPr>
              <a:t>Divorce code</a:t>
            </a:r>
            <a:endParaRPr/>
          </a:p>
        </p:txBody>
      </p:sp>
      <p:sp>
        <p:nvSpPr>
          <p:cNvPr id="133" name="Google Shape;133;p25"/>
          <p:cNvSpPr txBox="1"/>
          <p:nvPr>
            <p:ph idx="1" type="subTitle"/>
          </p:nvPr>
        </p:nvSpPr>
        <p:spPr>
          <a:xfrm>
            <a:off x="700376" y="2996115"/>
            <a:ext cx="7897800" cy="4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lang="en-GB">
                <a:solidFill>
                  <a:schemeClr val="dk2"/>
                </a:solidFill>
              </a:rPr>
              <a:t>Predicting divorce</a:t>
            </a:r>
            <a:endParaRPr/>
          </a:p>
        </p:txBody>
      </p:sp>
      <p:cxnSp>
        <p:nvCxnSpPr>
          <p:cNvPr id="134" name="Google Shape;134;p25"/>
          <p:cNvCxnSpPr/>
          <p:nvPr/>
        </p:nvCxnSpPr>
        <p:spPr>
          <a:xfrm flipH="1">
            <a:off x="549426" y="184521"/>
            <a:ext cx="191621" cy="409919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5" name="Google Shape;135;p25"/>
          <p:cNvCxnSpPr/>
          <p:nvPr/>
        </p:nvCxnSpPr>
        <p:spPr>
          <a:xfrm rot="10800000">
            <a:off x="630331" y="4892067"/>
            <a:ext cx="8037890" cy="0"/>
          </a:xfrm>
          <a:prstGeom prst="straightConnector1">
            <a:avLst/>
          </a:prstGeom>
          <a:noFill/>
          <a:ln cap="sq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36" name="Google Shape;136;p25"/>
          <p:cNvGrpSpPr/>
          <p:nvPr/>
        </p:nvGrpSpPr>
        <p:grpSpPr>
          <a:xfrm>
            <a:off x="9622438" y="4800600"/>
            <a:ext cx="253746" cy="180131"/>
            <a:chOff x="4089400" y="933450"/>
            <a:chExt cx="338328" cy="341938"/>
          </a:xfrm>
        </p:grpSpPr>
        <p:cxnSp>
          <p:nvCxnSpPr>
            <p:cNvPr id="137" name="Google Shape;137;p25"/>
            <p:cNvCxnSpPr/>
            <p:nvPr/>
          </p:nvCxnSpPr>
          <p:spPr>
            <a:xfrm>
              <a:off x="4258564" y="933450"/>
              <a:ext cx="0" cy="341938"/>
            </a:xfrm>
            <a:prstGeom prst="straightConnector1">
              <a:avLst/>
            </a:prstGeom>
            <a:noFill/>
            <a:ln cap="flat" cmpd="sng" w="12700">
              <a:solidFill>
                <a:schemeClr val="dk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8" name="Google Shape;138;p25"/>
            <p:cNvCxnSpPr/>
            <p:nvPr/>
          </p:nvCxnSpPr>
          <p:spPr>
            <a:xfrm>
              <a:off x="4089400" y="1104419"/>
              <a:ext cx="338328" cy="0"/>
            </a:xfrm>
            <a:prstGeom prst="straightConnector1">
              <a:avLst/>
            </a:prstGeom>
            <a:noFill/>
            <a:ln cap="flat" cmpd="sng" w="12700">
              <a:solidFill>
                <a:schemeClr val="dk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39" name="Google Shape;139;p25"/>
          <p:cNvSpPr txBox="1"/>
          <p:nvPr/>
        </p:nvSpPr>
        <p:spPr>
          <a:xfrm>
            <a:off x="630331" y="3934652"/>
            <a:ext cx="24312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Kabir Ramana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Rodrigue Gbedomon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Sertac Balbaros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type="title"/>
          </p:nvPr>
        </p:nvSpPr>
        <p:spPr>
          <a:xfrm>
            <a:off x="372050" y="1553275"/>
            <a:ext cx="8343000" cy="199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D41F9"/>
              </a:buClr>
              <a:buSzPts val="2700"/>
              <a:buFont typeface="Calibri"/>
              <a:buNone/>
            </a:pPr>
            <a:r>
              <a:rPr b="1" lang="en-GB" sz="4700">
                <a:solidFill>
                  <a:srgbClr val="9D41F9"/>
                </a:solidFill>
                <a:latin typeface="Calibri"/>
                <a:ea typeface="Calibri"/>
                <a:cs typeface="Calibri"/>
                <a:sym typeface="Calibri"/>
              </a:rPr>
              <a:t>Trends of divorce in Switzerland and around the world</a:t>
            </a:r>
            <a:r>
              <a:rPr b="1" lang="en-GB" sz="4700">
                <a:solidFill>
                  <a:srgbClr val="9D41F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4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/>
          <p:nvPr/>
        </p:nvSpPr>
        <p:spPr>
          <a:xfrm>
            <a:off x="5404757" y="215538"/>
            <a:ext cx="3649500" cy="47238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0" name="Google Shape;150;p27"/>
          <p:cNvGrpSpPr/>
          <p:nvPr/>
        </p:nvGrpSpPr>
        <p:grpSpPr>
          <a:xfrm>
            <a:off x="5736628" y="370051"/>
            <a:ext cx="3132000" cy="4183153"/>
            <a:chOff x="7614072" y="642257"/>
            <a:chExt cx="4176000" cy="5577537"/>
          </a:xfrm>
        </p:grpSpPr>
        <p:pic>
          <p:nvPicPr>
            <p:cNvPr id="151" name="Google Shape;151;p27"/>
            <p:cNvPicPr preferRelativeResize="0"/>
            <p:nvPr/>
          </p:nvPicPr>
          <p:blipFill rotWithShape="1">
            <a:blip r:embed="rId3">
              <a:alphaModFix/>
            </a:blip>
            <a:srcRect b="0" l="0" r="0" t="6708"/>
            <a:stretch/>
          </p:blipFill>
          <p:spPr>
            <a:xfrm>
              <a:off x="7614072" y="1012370"/>
              <a:ext cx="4175855" cy="52074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" name="Google Shape;152;p27"/>
            <p:cNvSpPr/>
            <p:nvPr/>
          </p:nvSpPr>
          <p:spPr>
            <a:xfrm>
              <a:off x="7614072" y="642257"/>
              <a:ext cx="4176000" cy="370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Total divorce rate (TDR)</a:t>
              </a:r>
              <a:endParaRPr sz="1100"/>
            </a:p>
          </p:txBody>
        </p:sp>
      </p:grpSp>
      <p:grpSp>
        <p:nvGrpSpPr>
          <p:cNvPr id="153" name="Google Shape;153;p27"/>
          <p:cNvGrpSpPr/>
          <p:nvPr/>
        </p:nvGrpSpPr>
        <p:grpSpPr>
          <a:xfrm>
            <a:off x="596016" y="257131"/>
            <a:ext cx="3975975" cy="2893166"/>
            <a:chOff x="1099457" y="2939143"/>
            <a:chExt cx="5301300" cy="4011600"/>
          </a:xfrm>
        </p:grpSpPr>
        <p:sp>
          <p:nvSpPr>
            <p:cNvPr id="154" name="Google Shape;154;p27"/>
            <p:cNvSpPr/>
            <p:nvPr/>
          </p:nvSpPr>
          <p:spPr>
            <a:xfrm>
              <a:off x="1099457" y="2939143"/>
              <a:ext cx="5301300" cy="4011600"/>
            </a:xfrm>
            <a:prstGeom prst="rect">
              <a:avLst/>
            </a:prstGeom>
            <a:solidFill>
              <a:srgbClr val="D8D8D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graph with orange line&#10;&#10;AI-generated content may be incorrect." id="155" name="Google Shape;155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414257" y="3163663"/>
              <a:ext cx="4681744" cy="321582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6" name="Google Shape;156;p27"/>
            <p:cNvSpPr txBox="1"/>
            <p:nvPr/>
          </p:nvSpPr>
          <p:spPr>
            <a:xfrm>
              <a:off x="2688772" y="3141890"/>
              <a:ext cx="2307900" cy="33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 </a:t>
              </a:r>
              <a:r>
                <a:rPr lang="en-GB" sz="1100">
                  <a:solidFill>
                    <a:srgbClr val="313131"/>
                  </a:solidFill>
                  <a:latin typeface="Calibri"/>
                  <a:ea typeface="Calibri"/>
                  <a:cs typeface="Calibri"/>
                  <a:sym typeface="Calibri"/>
                </a:rPr>
                <a:t>Switzerland</a:t>
              </a:r>
              <a:endParaRPr sz="1100"/>
            </a:p>
          </p:txBody>
        </p:sp>
      </p:grpSp>
      <p:sp>
        <p:nvSpPr>
          <p:cNvPr id="157" name="Google Shape;157;p27"/>
          <p:cNvSpPr txBox="1"/>
          <p:nvPr/>
        </p:nvSpPr>
        <p:spPr>
          <a:xfrm>
            <a:off x="553475" y="3448075"/>
            <a:ext cx="4279500" cy="13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Arial"/>
              <a:buNone/>
            </a:pPr>
            <a:r>
              <a:t/>
            </a:r>
            <a:endParaRPr sz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9D41F9"/>
              </a:buClr>
              <a:buSzPts val="18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TDR vary considerably </a:t>
            </a:r>
            <a:r>
              <a:rPr lang="en-GB" sz="2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 time and from country to country and region to region </a:t>
            </a:r>
            <a:endParaRPr sz="2200" u="sng">
              <a:solidFill>
                <a:srgbClr val="9D41F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7"/>
          <p:cNvSpPr txBox="1"/>
          <p:nvPr/>
        </p:nvSpPr>
        <p:spPr>
          <a:xfrm>
            <a:off x="970770" y="2711709"/>
            <a:ext cx="3444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 2. Evolution of the total divorce rate in switzerland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7"/>
          <p:cNvSpPr txBox="1"/>
          <p:nvPr/>
        </p:nvSpPr>
        <p:spPr>
          <a:xfrm>
            <a:off x="6398209" y="4619340"/>
            <a:ext cx="21702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 3. Total divorce rate in 2025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8"/>
          <p:cNvSpPr txBox="1"/>
          <p:nvPr>
            <p:ph type="title"/>
          </p:nvPr>
        </p:nvSpPr>
        <p:spPr>
          <a:xfrm>
            <a:off x="372050" y="1553275"/>
            <a:ext cx="8343000" cy="199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D41F9"/>
              </a:buClr>
              <a:buSzPts val="2700"/>
              <a:buFont typeface="Calibri"/>
              <a:buNone/>
            </a:pPr>
            <a:r>
              <a:rPr b="1" lang="en-GB" sz="4700">
                <a:solidFill>
                  <a:srgbClr val="9D41F9"/>
                </a:solidFill>
                <a:latin typeface="Calibri"/>
                <a:ea typeface="Calibri"/>
                <a:cs typeface="Calibri"/>
                <a:sym typeface="Calibri"/>
              </a:rPr>
              <a:t>Research interest</a:t>
            </a:r>
            <a:br>
              <a:rPr b="1" lang="en-GB" sz="4700">
                <a:solidFill>
                  <a:srgbClr val="9D41F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i="1" lang="en-GB" sz="3200">
                <a:solidFill>
                  <a:srgbClr val="9D41F9"/>
                </a:solidFill>
                <a:latin typeface="Calibri"/>
                <a:ea typeface="Calibri"/>
                <a:cs typeface="Calibri"/>
                <a:sym typeface="Calibri"/>
              </a:rPr>
              <a:t>(Research Project)</a:t>
            </a:r>
            <a:r>
              <a:rPr b="1" lang="en-GB" sz="4700">
                <a:solidFill>
                  <a:srgbClr val="9D41F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4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 txBox="1"/>
          <p:nvPr/>
        </p:nvSpPr>
        <p:spPr>
          <a:xfrm>
            <a:off x="4692925" y="1723975"/>
            <a:ext cx="4068600" cy="20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Develop </a:t>
            </a:r>
            <a:r>
              <a:rPr b="1" lang="en-GB" sz="2200">
                <a:solidFill>
                  <a:srgbClr val="9D41F9"/>
                </a:solidFill>
                <a:latin typeface="Calibri"/>
                <a:ea typeface="Calibri"/>
                <a:cs typeface="Calibri"/>
                <a:sym typeface="Calibri"/>
              </a:rPr>
              <a:t>predictive</a:t>
            </a: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models of </a:t>
            </a:r>
            <a:r>
              <a:rPr b="1" lang="en-GB" sz="2200">
                <a:solidFill>
                  <a:srgbClr val="9D41F9"/>
                </a:solidFill>
                <a:latin typeface="Calibri"/>
                <a:ea typeface="Calibri"/>
                <a:cs typeface="Calibri"/>
                <a:sym typeface="Calibri"/>
              </a:rPr>
              <a:t>divorce</a:t>
            </a: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using multidimensional determinants, and identify the key factors that most strongly contribute to marital dissolution. </a:t>
            </a:r>
            <a:endParaRPr sz="2200">
              <a:solidFill>
                <a:schemeClr val="dk1"/>
              </a:solidFill>
            </a:endParaRPr>
          </a:p>
        </p:txBody>
      </p:sp>
      <p:pic>
        <p:nvPicPr>
          <p:cNvPr id="170" name="Google Shape;17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95175"/>
            <a:ext cx="4464525" cy="297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0"/>
          <p:cNvSpPr txBox="1"/>
          <p:nvPr/>
        </p:nvSpPr>
        <p:spPr>
          <a:xfrm>
            <a:off x="4529625" y="1852000"/>
            <a:ext cx="4232100" cy="16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D41F9"/>
              </a:buClr>
              <a:buSzPts val="2200"/>
              <a:buFont typeface="Calibri"/>
              <a:buChar char="●"/>
            </a:pP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 models offers the most reliable prediction of divorce?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D41F9"/>
              </a:buClr>
              <a:buSzPts val="2200"/>
              <a:buFont typeface="Calibri"/>
              <a:buChar char="●"/>
            </a:pP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 factors contribute most to predicting divorce ?</a:t>
            </a:r>
            <a:endParaRPr sz="2200">
              <a:solidFill>
                <a:schemeClr val="dk1"/>
              </a:solidFill>
            </a:endParaRPr>
          </a:p>
        </p:txBody>
      </p:sp>
      <p:pic>
        <p:nvPicPr>
          <p:cNvPr id="176" name="Google Shape;17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6200" y="1133550"/>
            <a:ext cx="4382601" cy="2921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1"/>
          <p:cNvSpPr txBox="1"/>
          <p:nvPr>
            <p:ph type="title"/>
          </p:nvPr>
        </p:nvSpPr>
        <p:spPr>
          <a:xfrm>
            <a:off x="372050" y="1553275"/>
            <a:ext cx="8343000" cy="199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D41F9"/>
              </a:buClr>
              <a:buSzPts val="2700"/>
              <a:buFont typeface="Calibri"/>
              <a:buNone/>
            </a:pPr>
            <a:r>
              <a:rPr b="1" lang="en-GB" sz="4700">
                <a:solidFill>
                  <a:srgbClr val="9D41F9"/>
                </a:solidFill>
                <a:latin typeface="Calibri"/>
                <a:ea typeface="Calibri"/>
                <a:cs typeface="Calibri"/>
                <a:sym typeface="Calibri"/>
              </a:rPr>
              <a:t>Research interest </a:t>
            </a:r>
            <a:endParaRPr b="1" sz="4700">
              <a:solidFill>
                <a:srgbClr val="9D41F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D41F9"/>
              </a:buClr>
              <a:buSzPts val="2700"/>
              <a:buFont typeface="Calibri"/>
              <a:buNone/>
            </a:pPr>
            <a:r>
              <a:rPr i="1" lang="en-GB" sz="3200">
                <a:solidFill>
                  <a:srgbClr val="9D41F9"/>
                </a:solidFill>
                <a:latin typeface="Calibri"/>
                <a:ea typeface="Calibri"/>
                <a:cs typeface="Calibri"/>
                <a:sym typeface="Calibri"/>
              </a:rPr>
              <a:t>(for deep </a:t>
            </a:r>
            <a:r>
              <a:rPr i="1" lang="en-GB" sz="3200">
                <a:solidFill>
                  <a:srgbClr val="9D41F9"/>
                </a:solidFill>
                <a:latin typeface="Calibri"/>
                <a:ea typeface="Calibri"/>
                <a:cs typeface="Calibri"/>
                <a:sym typeface="Calibri"/>
              </a:rPr>
              <a:t>learning</a:t>
            </a:r>
            <a:r>
              <a:rPr i="1" lang="en-GB" sz="3200">
                <a:solidFill>
                  <a:srgbClr val="9D41F9"/>
                </a:solidFill>
                <a:latin typeface="Calibri"/>
                <a:ea typeface="Calibri"/>
                <a:cs typeface="Calibri"/>
                <a:sym typeface="Calibri"/>
              </a:rPr>
              <a:t> Module) </a:t>
            </a:r>
            <a:endParaRPr i="1" sz="3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2"/>
          <p:cNvSpPr txBox="1"/>
          <p:nvPr/>
        </p:nvSpPr>
        <p:spPr>
          <a:xfrm>
            <a:off x="1525350" y="460400"/>
            <a:ext cx="60933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D41F9"/>
              </a:buClr>
              <a:buSzPts val="2700"/>
              <a:buFont typeface="Calibri"/>
              <a:buNone/>
            </a:pPr>
            <a:r>
              <a:rPr b="1" lang="en-GB" sz="2700">
                <a:solidFill>
                  <a:srgbClr val="9D41F9"/>
                </a:solidFill>
                <a:latin typeface="Calibri"/>
                <a:ea typeface="Calibri"/>
                <a:cs typeface="Calibri"/>
                <a:sym typeface="Calibri"/>
              </a:rPr>
              <a:t>Summary of ML results</a:t>
            </a:r>
            <a:endParaRPr sz="1100"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lay"/>
              <a:buNone/>
            </a:pPr>
            <a:r>
              <a:t/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32"/>
          <p:cNvSpPr txBox="1"/>
          <p:nvPr/>
        </p:nvSpPr>
        <p:spPr>
          <a:xfrm>
            <a:off x="2855625" y="1226400"/>
            <a:ext cx="3075600" cy="2690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--- Model 2(Random Forest Classifier) ---</a:t>
            </a:r>
            <a:endParaRPr sz="11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Accuracy on Test Set: </a:t>
            </a:r>
            <a:r>
              <a:rPr b="1" lang="en-GB" sz="1100"/>
              <a:t>0.6100</a:t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                       --- Confusion Matrix ---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                       Predicted 0 | Predicted 1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             Actual 0:        542 |        60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             Actual 1:        333 |        65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                         Classification Report: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             precision    recall  f1-score   support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          0       0.62      0.90      0.73       602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          1       0.52      0.16      0.25       398</a:t>
            </a:r>
            <a:endParaRPr sz="1100"/>
          </a:p>
        </p:txBody>
      </p:sp>
      <p:sp>
        <p:nvSpPr>
          <p:cNvPr id="188" name="Google Shape;188;p32"/>
          <p:cNvSpPr txBox="1"/>
          <p:nvPr/>
        </p:nvSpPr>
        <p:spPr>
          <a:xfrm>
            <a:off x="-389775" y="1226400"/>
            <a:ext cx="3245400" cy="26907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--- Model1 (Logistic Regression) ---</a:t>
            </a:r>
            <a:endParaRPr sz="11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          </a:t>
            </a:r>
            <a:r>
              <a:rPr lang="en-GB" sz="1100"/>
              <a:t>Accuracy on Test Set: </a:t>
            </a:r>
            <a:r>
              <a:rPr b="1" lang="en-GB" sz="1100"/>
              <a:t>0.6150</a:t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                      --- Confusion Matrix ---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                      Predicted 0 | Predicted 1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            Actual 0:        537 |         65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            Actual 1:        323 |         75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                       Classification Report: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             precision    recall  f1-score   support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          0       0.62      0.89      0.73       602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          1       0.54      0.19      0.28       398</a:t>
            </a:r>
            <a:endParaRPr sz="1100"/>
          </a:p>
        </p:txBody>
      </p:sp>
      <p:sp>
        <p:nvSpPr>
          <p:cNvPr id="189" name="Google Shape;189;p32"/>
          <p:cNvSpPr txBox="1"/>
          <p:nvPr/>
        </p:nvSpPr>
        <p:spPr>
          <a:xfrm>
            <a:off x="5931225" y="1226400"/>
            <a:ext cx="3372600" cy="26907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--- Training Model (XGBoost Classifier) ---</a:t>
            </a:r>
            <a:endParaRPr sz="11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Accuracy on Test Set: </a:t>
            </a:r>
            <a:r>
              <a:rPr b="1" lang="en-GB" sz="1100"/>
              <a:t>0.5900</a:t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--- Confusion Matrix ---</a:t>
            </a:r>
            <a:endParaRPr sz="11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   Predicted 0 | Predicted 1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             Actual 0:        482 |        120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             Actual 1:        294 |        104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Classification Report: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             precision    recall  f1-score   support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          0       0.63      0.82      0.71       602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           1       0.49      0.25      0.33       398</a:t>
            </a:r>
            <a:endParaRPr sz="1100"/>
          </a:p>
        </p:txBody>
      </p:sp>
      <p:sp>
        <p:nvSpPr>
          <p:cNvPr id="190" name="Google Shape;190;p32"/>
          <p:cNvSpPr txBox="1"/>
          <p:nvPr/>
        </p:nvSpPr>
        <p:spPr>
          <a:xfrm>
            <a:off x="1733300" y="4092700"/>
            <a:ext cx="5867700" cy="10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Moderate accuracy (56% à 62%)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Good performance for Class 0, so fine in predicting No divorce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Poor performance for Class 1, bad in predicting divorce</a:t>
            </a:r>
            <a:r>
              <a:rPr lang="en-GB" sz="2100">
                <a:solidFill>
                  <a:schemeClr val="dk1"/>
                </a:solidFill>
              </a:rPr>
              <a:t> </a:t>
            </a:r>
            <a:endParaRPr sz="2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/>
          <p:cNvSpPr txBox="1"/>
          <p:nvPr>
            <p:ph type="title"/>
          </p:nvPr>
        </p:nvSpPr>
        <p:spPr>
          <a:xfrm>
            <a:off x="260450" y="585950"/>
            <a:ext cx="4371600" cy="8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D41F9"/>
              </a:buClr>
              <a:buSzPts val="2700"/>
              <a:buFont typeface="Calibri"/>
              <a:buNone/>
            </a:pPr>
            <a:r>
              <a:rPr b="1" lang="en-GB" sz="2400">
                <a:solidFill>
                  <a:srgbClr val="9D41F9"/>
                </a:solidFill>
                <a:latin typeface="Calibri"/>
                <a:ea typeface="Calibri"/>
                <a:cs typeface="Calibri"/>
                <a:sym typeface="Calibri"/>
              </a:rPr>
              <a:t>Reasons for underperformance of ML models</a:t>
            </a:r>
            <a:endParaRPr i="1" sz="2400"/>
          </a:p>
        </p:txBody>
      </p:sp>
      <p:sp>
        <p:nvSpPr>
          <p:cNvPr id="196" name="Google Shape;196;p33"/>
          <p:cNvSpPr txBox="1"/>
          <p:nvPr/>
        </p:nvSpPr>
        <p:spPr>
          <a:xfrm>
            <a:off x="511525" y="1520650"/>
            <a:ext cx="3971700" cy="26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41F9"/>
              </a:buClr>
              <a:buSzPts val="2200"/>
              <a:buFont typeface="Calibri"/>
              <a:buChar char="●"/>
            </a:pP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Small, imbalanced, and heterogeneous datasets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41F9"/>
              </a:buClr>
              <a:buSzPts val="2200"/>
              <a:buFont typeface="Calibri"/>
              <a:buChar char="●"/>
            </a:pP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Low signal-to-noise ratio in available data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41F9"/>
              </a:buClr>
              <a:buSzPts val="2200"/>
              <a:buFont typeface="Calibri"/>
              <a:buChar char="●"/>
            </a:pP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Limited capacity of models (Non-linear interactions)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197" name="Google Shape;197;p33"/>
          <p:cNvSpPr txBox="1"/>
          <p:nvPr/>
        </p:nvSpPr>
        <p:spPr>
          <a:xfrm>
            <a:off x="5283000" y="1669000"/>
            <a:ext cx="3757800" cy="22473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 / 40 mild imbalance but not extreme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Depends on the dataset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41F9"/>
              </a:buClr>
              <a:buSzPts val="2200"/>
              <a:buFont typeface="Calibri"/>
              <a:buChar char="●"/>
            </a:pPr>
            <a:r>
              <a:rPr lang="en-GB" sz="2200">
                <a:solidFill>
                  <a:srgbClr val="9D41F9"/>
                </a:solidFill>
                <a:latin typeface="Calibri"/>
                <a:ea typeface="Calibri"/>
                <a:cs typeface="Calibri"/>
                <a:sym typeface="Calibri"/>
              </a:rPr>
              <a:t>Increase capacity of models (Deep learning)</a:t>
            </a:r>
            <a:endParaRPr sz="2200">
              <a:solidFill>
                <a:srgbClr val="9D41F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/>
          <p:nvPr>
            <p:ph type="title"/>
          </p:nvPr>
        </p:nvSpPr>
        <p:spPr>
          <a:xfrm>
            <a:off x="260450" y="585950"/>
            <a:ext cx="3971700" cy="8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D41F9"/>
              </a:buClr>
              <a:buSzPts val="2700"/>
              <a:buFont typeface="Calibri"/>
              <a:buNone/>
            </a:pPr>
            <a:r>
              <a:rPr b="1" lang="en-GB" sz="2400">
                <a:solidFill>
                  <a:srgbClr val="9D41F9"/>
                </a:solidFill>
                <a:latin typeface="Calibri"/>
                <a:ea typeface="Calibri"/>
                <a:cs typeface="Calibri"/>
                <a:sym typeface="Calibri"/>
              </a:rPr>
              <a:t>Research objective with deep learning</a:t>
            </a:r>
            <a:endParaRPr i="1" sz="2400"/>
          </a:p>
        </p:txBody>
      </p:sp>
      <p:sp>
        <p:nvSpPr>
          <p:cNvPr id="203" name="Google Shape;203;p34"/>
          <p:cNvSpPr txBox="1"/>
          <p:nvPr/>
        </p:nvSpPr>
        <p:spPr>
          <a:xfrm>
            <a:off x="586500" y="1892700"/>
            <a:ext cx="7971000" cy="12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</a:rPr>
              <a:t>Leverage deep learning to improve the prediction and understanding of divorce by capturing complex, latent, and dynamic relationship patterns.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5"/>
          <p:cNvSpPr txBox="1"/>
          <p:nvPr>
            <p:ph type="title"/>
          </p:nvPr>
        </p:nvSpPr>
        <p:spPr>
          <a:xfrm>
            <a:off x="372050" y="1553275"/>
            <a:ext cx="8555100" cy="199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D41F9"/>
              </a:buClr>
              <a:buSzPts val="2700"/>
              <a:buFont typeface="Calibri"/>
              <a:buNone/>
            </a:pPr>
            <a:r>
              <a:rPr b="1" lang="en-GB" sz="4700">
                <a:solidFill>
                  <a:srgbClr val="9D41F9"/>
                </a:solidFill>
                <a:latin typeface="Calibri"/>
                <a:ea typeface="Calibri"/>
                <a:cs typeface="Calibri"/>
                <a:sym typeface="Calibri"/>
              </a:rPr>
              <a:t>Exploratory Data Analysis (EDA) – Dataset Overview </a:t>
            </a:r>
            <a:r>
              <a:rPr b="1" lang="en-GB" sz="4700">
                <a:solidFill>
                  <a:srgbClr val="9D41F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4700">
              <a:solidFill>
                <a:srgbClr val="9D41F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D41F9"/>
              </a:buClr>
              <a:buSzPts val="2700"/>
              <a:buFont typeface="Calibri"/>
              <a:buNone/>
            </a:pPr>
            <a:r>
              <a:t/>
            </a:r>
            <a:endParaRPr i="1" sz="3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6"/>
          <p:cNvSpPr txBox="1"/>
          <p:nvPr/>
        </p:nvSpPr>
        <p:spPr>
          <a:xfrm>
            <a:off x="523522" y="391962"/>
            <a:ext cx="50547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rgbClr val="9D41F9"/>
                </a:solidFill>
                <a:latin typeface="Calibri"/>
                <a:ea typeface="Calibri"/>
                <a:cs typeface="Calibri"/>
                <a:sym typeface="Calibri"/>
              </a:rPr>
              <a:t>Data provenance and structure </a:t>
            </a:r>
            <a:endParaRPr i="1" sz="2200">
              <a:solidFill>
                <a:srgbClr val="9D41F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36"/>
          <p:cNvSpPr txBox="1"/>
          <p:nvPr/>
        </p:nvSpPr>
        <p:spPr>
          <a:xfrm>
            <a:off x="523525" y="1165375"/>
            <a:ext cx="2019300" cy="15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source: </a:t>
            </a:r>
            <a:r>
              <a:rPr lang="en-GB" sz="17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https://www.kaggle.com/datasets/vanpatangan/divorce-prediction/data</a:t>
            </a:r>
            <a:r>
              <a:rPr lang="en-GB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36"/>
          <p:cNvSpPr txBox="1"/>
          <p:nvPr/>
        </p:nvSpPr>
        <p:spPr>
          <a:xfrm>
            <a:off x="6129425" y="1113900"/>
            <a:ext cx="2492400" cy="16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Data structure:</a:t>
            </a:r>
            <a:endParaRPr b="1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n-GB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5,000 couples 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n-GB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 dimensions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n-GB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 Variables (21 features + 1 target variable)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  <p:graphicFrame>
        <p:nvGraphicFramePr>
          <p:cNvPr id="216" name="Google Shape;216;p36"/>
          <p:cNvGraphicFramePr/>
          <p:nvPr/>
        </p:nvGraphicFramePr>
        <p:xfrm>
          <a:off x="339600" y="3258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{E5098008-D8F0-4570-A9A0-5B3463729E9F}</a:tableStyleId>
              </a:tblPr>
              <a:tblGrid>
                <a:gridCol w="1941875"/>
                <a:gridCol w="1456400"/>
                <a:gridCol w="1933050"/>
                <a:gridCol w="1933050"/>
                <a:gridCol w="1200425"/>
              </a:tblGrid>
              <a:tr h="308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/>
                        <a:t>1.</a:t>
                      </a:r>
                      <a:r>
                        <a:rPr b="1" lang="en-GB" sz="900"/>
                        <a:t>Demographic and Family Structure</a:t>
                      </a:r>
                      <a:endParaRPr b="1" sz="900"/>
                    </a:p>
                  </a:txBody>
                  <a:tcPr marT="9525" marB="91425" marR="41275" marL="41275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/>
                        <a:t>2.</a:t>
                      </a:r>
                      <a:r>
                        <a:rPr b="1" lang="en-GB" sz="900"/>
                        <a:t>Socioeconomic Conditions</a:t>
                      </a:r>
                      <a:endParaRPr b="1" sz="900"/>
                    </a:p>
                  </a:txBody>
                  <a:tcPr marT="9525" marB="91425" marR="41275" marL="41275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/>
                        <a:t>3.</a:t>
                      </a:r>
                      <a:r>
                        <a:rPr b="1" lang="en-GB" sz="900"/>
                        <a:t>Interpersonal Relationship Dynamics</a:t>
                      </a:r>
                      <a:endParaRPr b="1" sz="900"/>
                    </a:p>
                  </a:txBody>
                  <a:tcPr marT="9525" marB="91425" marR="41275" marL="41275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/>
                        <a:t>4.</a:t>
                      </a:r>
                      <a:r>
                        <a:rPr b="1" lang="en-GB" sz="900"/>
                        <a:t>Psychological and </a:t>
                      </a:r>
                      <a:r>
                        <a:rPr b="1" lang="en-GB" sz="900"/>
                        <a:t>Behavioral Factors</a:t>
                      </a:r>
                      <a:endParaRPr b="1" sz="900"/>
                    </a:p>
                  </a:txBody>
                  <a:tcPr marT="9525" marB="91425" marR="41275" marL="41275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/>
                        <a:t>5.</a:t>
                      </a:r>
                      <a:r>
                        <a:rPr b="1" lang="en-GB" sz="900"/>
                        <a:t>Support </a:t>
                      </a:r>
                      <a:r>
                        <a:rPr b="1" lang="en-GB" sz="900"/>
                        <a:t>System</a:t>
                      </a:r>
                      <a:endParaRPr b="1" sz="900"/>
                    </a:p>
                  </a:txBody>
                  <a:tcPr marT="9525" marB="91425" marR="41275" marL="41275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90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·age_at_marriage</a:t>
                      </a:r>
                      <a:endParaRPr sz="9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·marriage_duration_years</a:t>
                      </a:r>
                      <a:endParaRPr sz="9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·num_children</a:t>
                      </a:r>
                      <a:endParaRPr sz="9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·marriage_type</a:t>
                      </a:r>
                      <a:endParaRPr sz="9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·pre_marital_cohabitation</a:t>
                      </a:r>
                      <a:endParaRPr sz="9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·religious_compatibility</a:t>
                      </a:r>
                      <a:endParaRPr sz="9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·cultural_background_match </a:t>
                      </a:r>
                      <a:endParaRPr sz="900"/>
                    </a:p>
                  </a:txBody>
                  <a:tcPr marT="9525" marB="91425" marR="41275" marL="41275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·education_level</a:t>
                      </a:r>
                      <a:endParaRPr sz="9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·employment_status</a:t>
                      </a:r>
                      <a:endParaRPr sz="9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·combined_income</a:t>
                      </a:r>
                      <a:endParaRPr sz="9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900"/>
                        <a:t> </a:t>
                      </a:r>
                      <a:endParaRPr sz="900"/>
                    </a:p>
                  </a:txBody>
                  <a:tcPr marT="9525" marB="91425" marR="41275" marL="41275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·communication_score</a:t>
                      </a:r>
                      <a:endParaRPr sz="9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·conflict_frequency</a:t>
                      </a:r>
                      <a:endParaRPr sz="9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·conflict_resolution_style</a:t>
                      </a:r>
                      <a:endParaRPr sz="9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·trust_score</a:t>
                      </a:r>
                      <a:endParaRPr sz="9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·shared_hobbies_count</a:t>
                      </a:r>
                      <a:endParaRPr sz="9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900"/>
                        <a:t> </a:t>
                      </a:r>
                      <a:endParaRPr sz="900"/>
                    </a:p>
                  </a:txBody>
                  <a:tcPr marT="9525" marB="91425" marR="41275" marL="41275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·financial_stress_level</a:t>
                      </a:r>
                      <a:endParaRPr sz="9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·mental_health_issues</a:t>
                      </a:r>
                      <a:endParaRPr sz="9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·infidelity_occurred</a:t>
                      </a:r>
                      <a:endParaRPr sz="9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·domestic_violence_history</a:t>
                      </a:r>
                      <a:endParaRPr sz="9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900"/>
                        <a:t> </a:t>
                      </a:r>
                      <a:endParaRPr sz="900"/>
                    </a:p>
                  </a:txBody>
                  <a:tcPr marT="9525" marB="91425" marR="41275" marL="41275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·counseling_attended</a:t>
                      </a:r>
                      <a:endParaRPr sz="9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·social_support</a:t>
                      </a:r>
                      <a:endParaRPr sz="9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900"/>
                        <a:t> </a:t>
                      </a:r>
                      <a:endParaRPr sz="900"/>
                    </a:p>
                  </a:txBody>
                  <a:tcPr marT="9525" marB="91425" marR="41275" marL="41275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7"/>
          <p:cNvSpPr txBox="1"/>
          <p:nvPr/>
        </p:nvSpPr>
        <p:spPr>
          <a:xfrm>
            <a:off x="372051" y="441775"/>
            <a:ext cx="2678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solidFill>
                  <a:srgbClr val="9D41F9"/>
                </a:solidFill>
                <a:latin typeface="Calibri"/>
                <a:ea typeface="Calibri"/>
                <a:cs typeface="Calibri"/>
                <a:sym typeface="Calibri"/>
              </a:rPr>
              <a:t>Summary statistics</a:t>
            </a:r>
            <a:endParaRPr i="1" sz="1800">
              <a:solidFill>
                <a:srgbClr val="9D41F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2" name="Google Shape;222;p37"/>
          <p:cNvGraphicFramePr/>
          <p:nvPr/>
        </p:nvGraphicFramePr>
        <p:xfrm>
          <a:off x="422100" y="12836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{E5098008-D8F0-4570-A9A0-5B3463729E9F}</a:tableStyleId>
              </a:tblPr>
              <a:tblGrid>
                <a:gridCol w="693700"/>
                <a:gridCol w="907325"/>
                <a:gridCol w="814325"/>
                <a:gridCol w="830400"/>
                <a:gridCol w="780350"/>
                <a:gridCol w="977350"/>
                <a:gridCol w="680875"/>
                <a:gridCol w="990375"/>
                <a:gridCol w="938800"/>
                <a:gridCol w="753100"/>
              </a:tblGrid>
              <a:tr h="471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Age at Marriage</a:t>
                      </a:r>
                      <a:endParaRPr b="1" sz="8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Marriage duration</a:t>
                      </a:r>
                      <a:endParaRPr b="1" sz="8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num_children</a:t>
                      </a:r>
                      <a:endParaRPr b="1" sz="8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combined_income</a:t>
                      </a:r>
                      <a:endParaRPr b="1" sz="8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communication_score</a:t>
                      </a:r>
                      <a:endParaRPr b="1" sz="8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Conflict frequency</a:t>
                      </a:r>
                      <a:endParaRPr b="1" sz="8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financial_stress</a:t>
                      </a:r>
                      <a:endParaRPr b="1" sz="8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social_support</a:t>
                      </a:r>
                      <a:endParaRPr b="1" sz="8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trust_score</a:t>
                      </a:r>
                      <a:endParaRPr b="1" sz="8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21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Mean</a:t>
                      </a:r>
                      <a:endParaRPr sz="10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27.58</a:t>
                      </a:r>
                      <a:endParaRPr sz="10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9.17</a:t>
                      </a:r>
                      <a:endParaRPr sz="10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1.55</a:t>
                      </a:r>
                      <a:endParaRPr sz="10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60220</a:t>
                      </a:r>
                      <a:endParaRPr sz="10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6.04</a:t>
                      </a:r>
                      <a:endParaRPr sz="10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2.00</a:t>
                      </a:r>
                      <a:endParaRPr sz="10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5.07</a:t>
                      </a:r>
                      <a:endParaRPr sz="10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5.97</a:t>
                      </a:r>
                      <a:endParaRPr sz="10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6.03</a:t>
                      </a:r>
                      <a:endParaRPr sz="10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13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std</a:t>
                      </a:r>
                      <a:endParaRPr sz="10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4.85</a:t>
                      </a:r>
                      <a:endParaRPr sz="10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8.84</a:t>
                      </a:r>
                      <a:endParaRPr sz="10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      1.24 </a:t>
                      </a:r>
                      <a:endParaRPr sz="10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19662</a:t>
                      </a:r>
                      <a:endParaRPr sz="10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1.96</a:t>
                      </a:r>
                      <a:endParaRPr sz="10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1.41</a:t>
                      </a:r>
                      <a:endParaRPr sz="10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2.33</a:t>
                      </a:r>
                      <a:endParaRPr sz="10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1.97</a:t>
                      </a:r>
                      <a:endParaRPr sz="10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1.93</a:t>
                      </a:r>
                      <a:endParaRPr sz="10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64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Min</a:t>
                      </a:r>
                      <a:endParaRPr sz="10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18.00</a:t>
                      </a:r>
                      <a:endParaRPr sz="10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1.00</a:t>
                      </a:r>
                      <a:endParaRPr sz="10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0.00</a:t>
                      </a:r>
                      <a:endParaRPr sz="10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10000</a:t>
                      </a:r>
                      <a:endParaRPr sz="10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1.00</a:t>
                      </a:r>
                      <a:endParaRPr sz="10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0.00</a:t>
                      </a:r>
                      <a:endParaRPr sz="10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1.00</a:t>
                      </a:r>
                      <a:endParaRPr sz="10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1.00</a:t>
                      </a:r>
                      <a:endParaRPr sz="10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1.00</a:t>
                      </a:r>
                      <a:endParaRPr sz="10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64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25%</a:t>
                      </a:r>
                      <a:endParaRPr sz="10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24.00</a:t>
                      </a:r>
                      <a:endParaRPr sz="10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2.00</a:t>
                      </a:r>
                      <a:endParaRPr sz="10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1.00</a:t>
                      </a:r>
                      <a:endParaRPr sz="10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46666</a:t>
                      </a:r>
                      <a:endParaRPr sz="10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4.66</a:t>
                      </a:r>
                      <a:endParaRPr sz="10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1.00</a:t>
                      </a:r>
                      <a:endParaRPr sz="10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3.37</a:t>
                      </a:r>
                      <a:endParaRPr sz="10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4.60</a:t>
                      </a:r>
                      <a:endParaRPr sz="10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4.70</a:t>
                      </a:r>
                      <a:endParaRPr sz="10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64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50%</a:t>
                      </a:r>
                      <a:endParaRPr sz="10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28.00</a:t>
                      </a:r>
                      <a:endParaRPr sz="10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6.00</a:t>
                      </a:r>
                      <a:endParaRPr sz="10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1.00</a:t>
                      </a:r>
                      <a:endParaRPr sz="10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60196</a:t>
                      </a:r>
                      <a:endParaRPr sz="10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6.06</a:t>
                      </a:r>
                      <a:endParaRPr sz="10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2.00</a:t>
                      </a:r>
                      <a:endParaRPr sz="10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5.06</a:t>
                      </a:r>
                      <a:endParaRPr sz="10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6.01</a:t>
                      </a:r>
                      <a:endParaRPr sz="10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6.03</a:t>
                      </a:r>
                      <a:endParaRPr sz="10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64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75%</a:t>
                      </a:r>
                      <a:endParaRPr sz="10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31.00</a:t>
                      </a:r>
                      <a:endParaRPr sz="10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13.00</a:t>
                      </a:r>
                      <a:endParaRPr sz="10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2.00</a:t>
                      </a:r>
                      <a:endParaRPr sz="10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73666</a:t>
                      </a:r>
                      <a:endParaRPr sz="10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7.43</a:t>
                      </a:r>
                      <a:endParaRPr sz="10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3.00</a:t>
                      </a:r>
                      <a:endParaRPr sz="10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6.72</a:t>
                      </a:r>
                      <a:endParaRPr sz="10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7.33</a:t>
                      </a:r>
                      <a:endParaRPr sz="10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7.37</a:t>
                      </a:r>
                      <a:endParaRPr sz="10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64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Max</a:t>
                      </a:r>
                      <a:endParaRPr sz="10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45.00</a:t>
                      </a:r>
                      <a:endParaRPr sz="10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40.00</a:t>
                      </a:r>
                      <a:endParaRPr sz="10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6.00</a:t>
                      </a:r>
                      <a:endParaRPr sz="10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126909</a:t>
                      </a:r>
                      <a:endParaRPr sz="10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10.00</a:t>
                      </a:r>
                      <a:endParaRPr sz="10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9.00</a:t>
                      </a:r>
                      <a:endParaRPr sz="10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10.00</a:t>
                      </a:r>
                      <a:endParaRPr sz="10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10.00</a:t>
                      </a:r>
                      <a:endParaRPr sz="10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10.00</a:t>
                      </a:r>
                      <a:endParaRPr sz="10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3" name="Google Shape;223;p37"/>
          <p:cNvSpPr txBox="1"/>
          <p:nvPr/>
        </p:nvSpPr>
        <p:spPr>
          <a:xfrm>
            <a:off x="372050" y="909288"/>
            <a:ext cx="8649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table summarizes the distribution of key numerical </a:t>
            </a:r>
            <a:r>
              <a:rPr lang="en-GB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variables</a:t>
            </a:r>
            <a:r>
              <a:rPr lang="en-GB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using mean, </a:t>
            </a:r>
            <a:r>
              <a:rPr lang="en-GB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standard</a:t>
            </a:r>
            <a:r>
              <a:rPr lang="en-GB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deviation  and range.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8"/>
          <p:cNvSpPr txBox="1"/>
          <p:nvPr/>
        </p:nvSpPr>
        <p:spPr>
          <a:xfrm>
            <a:off x="811851" y="803200"/>
            <a:ext cx="2678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solidFill>
                  <a:srgbClr val="9D41F9"/>
                </a:solidFill>
                <a:latin typeface="Calibri"/>
                <a:ea typeface="Calibri"/>
                <a:cs typeface="Calibri"/>
                <a:sym typeface="Calibri"/>
              </a:rPr>
              <a:t>Summary statistics</a:t>
            </a:r>
            <a:endParaRPr i="1" sz="1800">
              <a:solidFill>
                <a:srgbClr val="9D41F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9" name="Google Shape;229;p38"/>
          <p:cNvGraphicFramePr/>
          <p:nvPr/>
        </p:nvGraphicFramePr>
        <p:xfrm>
          <a:off x="377725" y="19186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{E5098008-D8F0-4570-A9A0-5B3463729E9F}</a:tableStyleId>
              </a:tblPr>
              <a:tblGrid>
                <a:gridCol w="513275"/>
                <a:gridCol w="1116200"/>
                <a:gridCol w="1116200"/>
                <a:gridCol w="1244650"/>
                <a:gridCol w="1209000"/>
                <a:gridCol w="1209000"/>
                <a:gridCol w="1209000"/>
                <a:gridCol w="771225"/>
              </a:tblGrid>
              <a:tr h="63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525" marB="91425" marR="9525" marL="9525" anchor="b"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/>
                        <a:t>Cultural Background Match</a:t>
                      </a:r>
                      <a:endParaRPr b="1" sz="1000"/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/>
                        <a:t>Mental health issue</a:t>
                      </a:r>
                      <a:endParaRPr b="1" sz="1000"/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/>
                        <a:t>Infidelity occurred</a:t>
                      </a:r>
                      <a:endParaRPr b="1" sz="1000"/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/>
                        <a:t>Counseling attended</a:t>
                      </a:r>
                      <a:endParaRPr b="1" sz="1000"/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/>
                        <a:t>Pre Martial Cohabitation</a:t>
                      </a:r>
                      <a:endParaRPr b="1" sz="1000"/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/>
                        <a:t>Domestic violence </a:t>
                      </a:r>
                      <a:endParaRPr b="1" sz="1000"/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highlight>
                            <a:srgbClr val="EA9999"/>
                          </a:highlight>
                        </a:rPr>
                        <a:t>divorce</a:t>
                      </a:r>
                      <a:endParaRPr b="1" sz="1000">
                        <a:highlight>
                          <a:srgbClr val="EA9999"/>
                        </a:highlight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3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Count</a:t>
                      </a:r>
                      <a:endParaRPr sz="1000"/>
                    </a:p>
                  </a:txBody>
                  <a:tcPr marT="9525" marB="91425" marR="9525" marL="9525" anchor="b"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5000</a:t>
                      </a:r>
                      <a:endParaRPr sz="1000"/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5000</a:t>
                      </a:r>
                      <a:endParaRPr sz="1000"/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5000</a:t>
                      </a:r>
                      <a:endParaRPr sz="1000"/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</a:rPr>
                        <a:t>5000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5000</a:t>
                      </a:r>
                      <a:endParaRPr sz="1000"/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5000</a:t>
                      </a:r>
                      <a:endParaRPr sz="1000"/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5000</a:t>
                      </a:r>
                      <a:endParaRPr sz="1000"/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06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Yes</a:t>
                      </a:r>
                      <a:endParaRPr sz="1000"/>
                    </a:p>
                  </a:txBody>
                  <a:tcPr marT="9525" marB="91425" marR="9525" marL="9525" anchor="b"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            3777</a:t>
                      </a:r>
                      <a:endParaRPr sz="1000"/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                         1019</a:t>
                      </a:r>
                      <a:endParaRPr sz="1000"/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745</a:t>
                      </a:r>
                      <a:endParaRPr sz="1000"/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1202</a:t>
                      </a:r>
                      <a:endParaRPr sz="1000"/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2961</a:t>
                      </a:r>
                      <a:endParaRPr sz="1000"/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252</a:t>
                      </a:r>
                      <a:endParaRPr sz="1000"/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1191</a:t>
                      </a:r>
                      <a:endParaRPr sz="1000"/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3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No</a:t>
                      </a:r>
                      <a:endParaRPr sz="1000"/>
                    </a:p>
                  </a:txBody>
                  <a:tcPr marT="9525" marB="91425" marR="9525" marL="9525" anchor="b"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1223</a:t>
                      </a:r>
                      <a:endParaRPr sz="1000"/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3981</a:t>
                      </a:r>
                      <a:endParaRPr sz="1000"/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4255</a:t>
                      </a:r>
                      <a:endParaRPr sz="1000"/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3798</a:t>
                      </a:r>
                      <a:endParaRPr sz="1000"/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2039</a:t>
                      </a:r>
                      <a:endParaRPr sz="1000"/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4748</a:t>
                      </a:r>
                      <a:endParaRPr sz="1000"/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3009</a:t>
                      </a:r>
                      <a:endParaRPr sz="1000"/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0" name="Google Shape;230;p38"/>
          <p:cNvSpPr txBox="1"/>
          <p:nvPr/>
        </p:nvSpPr>
        <p:spPr>
          <a:xfrm>
            <a:off x="811844" y="1319946"/>
            <a:ext cx="79818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table shows the distribution of key binary variables in the dataset. Each variable contains 5,000 observations.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38"/>
          <p:cNvSpPr txBox="1"/>
          <p:nvPr/>
        </p:nvSpPr>
        <p:spPr>
          <a:xfrm>
            <a:off x="982625" y="3808450"/>
            <a:ext cx="45414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Most couples did </a:t>
            </a:r>
            <a:r>
              <a:rPr b="1" lang="en-GB" sz="1200">
                <a:solidFill>
                  <a:schemeClr val="dk1"/>
                </a:solidFill>
              </a:rPr>
              <a:t>not experience infidelity (4,255 cases)</a:t>
            </a:r>
            <a:r>
              <a:rPr lang="en-GB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A large proportion reported </a:t>
            </a:r>
            <a:r>
              <a:rPr b="1" lang="en-GB" sz="1200">
                <a:solidFill>
                  <a:schemeClr val="dk1"/>
                </a:solidFill>
              </a:rPr>
              <a:t>no mental health issues (3,981 cases)</a:t>
            </a:r>
            <a:r>
              <a:rPr lang="en-GB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Pre Marital cohabitation is common (2,961 Yes cases) 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9"/>
          <p:cNvSpPr txBox="1"/>
          <p:nvPr>
            <p:ph type="title"/>
          </p:nvPr>
        </p:nvSpPr>
        <p:spPr>
          <a:xfrm>
            <a:off x="628650" y="273847"/>
            <a:ext cx="7886700" cy="470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rgbClr val="9D41F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i="1" lang="en-GB" sz="1800">
                <a:solidFill>
                  <a:srgbClr val="9D41F9"/>
                </a:solidFill>
                <a:latin typeface="Calibri"/>
                <a:ea typeface="Calibri"/>
                <a:cs typeface="Calibri"/>
                <a:sym typeface="Calibri"/>
              </a:rPr>
              <a:t>Summary statistics</a:t>
            </a:r>
            <a:endParaRPr i="1" sz="1800">
              <a:solidFill>
                <a:srgbClr val="9D41F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D41F9"/>
              </a:buClr>
              <a:buSzPct val="100000"/>
              <a:buFont typeface="Calibri"/>
              <a:buNone/>
            </a:pPr>
            <a:r>
              <a:t/>
            </a:r>
            <a:endParaRPr b="1" sz="2700">
              <a:solidFill>
                <a:srgbClr val="9D41F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7" name="Google Shape;237;p39"/>
          <p:cNvGraphicFramePr/>
          <p:nvPr/>
        </p:nvGraphicFramePr>
        <p:xfrm>
          <a:off x="410925" y="86576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{E5098008-D8F0-4570-A9A0-5B3463729E9F}</a:tableStyleId>
              </a:tblPr>
              <a:tblGrid>
                <a:gridCol w="219050"/>
                <a:gridCol w="2458550"/>
                <a:gridCol w="1830950"/>
                <a:gridCol w="2041625"/>
              </a:tblGrid>
              <a:tr h="320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525" marB="91425" marR="9525" marL="9525" anchor="b"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/>
                        <a:t>Variable</a:t>
                      </a:r>
                      <a:endParaRPr b="1" sz="1200"/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/>
                        <a:t>Category</a:t>
                      </a:r>
                      <a:endParaRPr b="1" sz="1200"/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/>
                        <a:t>Count</a:t>
                      </a:r>
                      <a:endParaRPr b="1" sz="1200"/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9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525" marB="91425" marR="9525" marL="9525" anchor="b"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 rowSpan="5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Education Level</a:t>
                      </a:r>
                      <a:endParaRPr sz="1200"/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                      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Bachelor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2069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525" marB="91425" marR="9525" marL="9525" anchor="b"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    High School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1513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9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525" marB="91425" marR="9525" marL="9525" anchor="b"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  Master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963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9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525" marB="91425" marR="9525" marL="9525" anchor="b"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      No Formal Education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231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9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525" marB="91425" marR="9525" marL="9525" anchor="b"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  PHD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224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9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525" marB="91425" marR="9525" marL="9525" anchor="b"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 rowSpan="4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Employment Status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Full-time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2487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9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525" marB="91425" marR="9525" marL="9525" anchor="b"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Part-time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1028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9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525" marB="91425" marR="9525" marL="9525" anchor="b"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Homemaker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748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9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525" marB="91425" marR="9525" marL="9525" anchor="b"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Unemployed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737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9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525" marB="91425" marR="9525" marL="9525" anchor="b"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 row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Marriage Type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Love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3513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9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525" marB="91425" marR="9525" marL="9525" anchor="b"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Arranged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1231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9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525" marB="91425" marR="9525" marL="9525" anchor="b"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Other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256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0"/>
          <p:cNvSpPr txBox="1"/>
          <p:nvPr>
            <p:ph type="title"/>
          </p:nvPr>
        </p:nvSpPr>
        <p:spPr>
          <a:xfrm>
            <a:off x="628650" y="273850"/>
            <a:ext cx="1791600" cy="355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rgbClr val="9D41F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solidFill>
                  <a:srgbClr val="9D41F9"/>
                </a:solidFill>
                <a:latin typeface="Calibri"/>
                <a:ea typeface="Calibri"/>
                <a:cs typeface="Calibri"/>
                <a:sym typeface="Calibri"/>
              </a:rPr>
              <a:t>Summary statistics</a:t>
            </a:r>
            <a:endParaRPr i="1" sz="1800">
              <a:solidFill>
                <a:srgbClr val="9D41F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rgbClr val="9D41F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3" name="Google Shape;243;p40"/>
          <p:cNvGraphicFramePr/>
          <p:nvPr/>
        </p:nvGraphicFramePr>
        <p:xfrm>
          <a:off x="410925" y="82847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{E5098008-D8F0-4570-A9A0-5B3463729E9F}</a:tableStyleId>
              </a:tblPr>
              <a:tblGrid>
                <a:gridCol w="219050"/>
                <a:gridCol w="2512425"/>
                <a:gridCol w="1871075"/>
                <a:gridCol w="2086375"/>
              </a:tblGrid>
              <a:tr h="360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525" marB="91425" marR="9525" marL="9525" anchor="b"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/>
                        <a:t>Variable</a:t>
                      </a:r>
                      <a:endParaRPr b="1" sz="1200"/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/>
                        <a:t>Category</a:t>
                      </a:r>
                      <a:endParaRPr b="1" sz="1200"/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/>
                        <a:t>Count</a:t>
                      </a:r>
                      <a:endParaRPr b="1" sz="1200"/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525" marB="91425" marR="9525" marL="9525" anchor="b"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 row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Religious Compatibility</a:t>
                      </a:r>
                      <a:r>
                        <a:rPr lang="en-GB" sz="1200"/>
                        <a:t>  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Same religion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3040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44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525" marB="91425" marR="9525" marL="9525" anchor="b"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Not religious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                    1003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8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525" marB="91425" marR="9525" marL="9525" anchor="b"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  Different religion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957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8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525" marB="91425" marR="9525" marL="9525" anchor="b"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 rowSpan="4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          Conflict Resolution Style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           Collaborative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2028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8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525" marB="91425" marR="9525" marL="9525" anchor="b"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             </a:t>
                      </a:r>
                      <a:r>
                        <a:rPr lang="en-GB" sz="1200"/>
                        <a:t>Avoidant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1250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8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525" marB="91425" marR="9525" marL="9525" anchor="b"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             </a:t>
                      </a:r>
                      <a:r>
                        <a:rPr lang="en-GB" sz="1200"/>
                        <a:t>Aggressive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994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8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525" marB="91425" marR="9525" marL="9525" anchor="b"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             Passive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728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4" name="Google Shape;244;p40"/>
          <p:cNvSpPr txBox="1"/>
          <p:nvPr>
            <p:ph type="title"/>
          </p:nvPr>
        </p:nvSpPr>
        <p:spPr>
          <a:xfrm>
            <a:off x="760851" y="3623000"/>
            <a:ext cx="4692000" cy="1432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rgbClr val="9D41F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-GB" sz="1300">
                <a:latin typeface="Arial"/>
                <a:ea typeface="Arial"/>
                <a:cs typeface="Arial"/>
                <a:sym typeface="Arial"/>
              </a:rPr>
              <a:t>📌 Key observations: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-30416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-GB" sz="1322">
                <a:latin typeface="Arial"/>
                <a:ea typeface="Arial"/>
                <a:cs typeface="Arial"/>
                <a:sym typeface="Arial"/>
              </a:rPr>
              <a:t>Most participants have a </a:t>
            </a:r>
            <a:r>
              <a:rPr b="1" lang="en-GB" sz="1322">
                <a:latin typeface="Arial"/>
                <a:ea typeface="Arial"/>
                <a:cs typeface="Arial"/>
                <a:sym typeface="Arial"/>
              </a:rPr>
              <a:t>Bachelor’s degree (2069)</a:t>
            </a:r>
            <a:endParaRPr b="1" sz="1322">
              <a:latin typeface="Arial"/>
              <a:ea typeface="Arial"/>
              <a:cs typeface="Arial"/>
              <a:sym typeface="Arial"/>
            </a:endParaRPr>
          </a:p>
          <a:p>
            <a:pPr indent="-3041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-GB" sz="1322">
                <a:latin typeface="Arial"/>
                <a:ea typeface="Arial"/>
                <a:cs typeface="Arial"/>
                <a:sym typeface="Arial"/>
              </a:rPr>
              <a:t>The majority are </a:t>
            </a:r>
            <a:r>
              <a:rPr b="1" lang="en-GB" sz="1322">
                <a:latin typeface="Arial"/>
                <a:ea typeface="Arial"/>
                <a:cs typeface="Arial"/>
                <a:sym typeface="Arial"/>
              </a:rPr>
              <a:t>full-time employed (2487)</a:t>
            </a:r>
            <a:endParaRPr b="1" sz="1322">
              <a:latin typeface="Arial"/>
              <a:ea typeface="Arial"/>
              <a:cs typeface="Arial"/>
              <a:sym typeface="Arial"/>
            </a:endParaRPr>
          </a:p>
          <a:p>
            <a:pPr indent="-3041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1" lang="en-GB" sz="1322">
                <a:latin typeface="Arial"/>
                <a:ea typeface="Arial"/>
                <a:cs typeface="Arial"/>
                <a:sym typeface="Arial"/>
              </a:rPr>
              <a:t>Love marriage is dominant (3513 cases)</a:t>
            </a:r>
            <a:endParaRPr b="1" sz="1322">
              <a:latin typeface="Arial"/>
              <a:ea typeface="Arial"/>
              <a:cs typeface="Arial"/>
              <a:sym typeface="Arial"/>
            </a:endParaRPr>
          </a:p>
          <a:p>
            <a:pPr indent="-3041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-GB" sz="1322">
                <a:latin typeface="Arial"/>
                <a:ea typeface="Arial"/>
                <a:cs typeface="Arial"/>
                <a:sym typeface="Arial"/>
              </a:rPr>
              <a:t>Most couples share the </a:t>
            </a:r>
            <a:r>
              <a:rPr b="1" lang="en-GB" sz="1322">
                <a:latin typeface="Arial"/>
                <a:ea typeface="Arial"/>
                <a:cs typeface="Arial"/>
                <a:sym typeface="Arial"/>
              </a:rPr>
              <a:t>same religion (3040 cases)</a:t>
            </a:r>
            <a:endParaRPr b="1" sz="1322">
              <a:latin typeface="Arial"/>
              <a:ea typeface="Arial"/>
              <a:cs typeface="Arial"/>
              <a:sym typeface="Arial"/>
            </a:endParaRPr>
          </a:p>
          <a:p>
            <a:pPr indent="-3041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-GB" sz="1322">
                <a:latin typeface="Arial"/>
                <a:ea typeface="Arial"/>
                <a:cs typeface="Arial"/>
                <a:sym typeface="Arial"/>
              </a:rPr>
              <a:t>Collaborative conflict style is the most common (2028 cases)</a:t>
            </a:r>
            <a:endParaRPr sz="1322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 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rgbClr val="9D41F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1"/>
          <p:cNvSpPr txBox="1"/>
          <p:nvPr>
            <p:ph type="title"/>
          </p:nvPr>
        </p:nvSpPr>
        <p:spPr>
          <a:xfrm>
            <a:off x="372050" y="1553275"/>
            <a:ext cx="8343000" cy="199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D41F9"/>
              </a:buClr>
              <a:buSzPts val="2700"/>
              <a:buFont typeface="Calibri"/>
              <a:buNone/>
            </a:pPr>
            <a:r>
              <a:rPr b="1" lang="en-GB" sz="4700">
                <a:solidFill>
                  <a:srgbClr val="9D41F9"/>
                </a:solidFill>
                <a:latin typeface="Calibri"/>
                <a:ea typeface="Calibri"/>
                <a:cs typeface="Calibri"/>
                <a:sym typeface="Calibri"/>
              </a:rPr>
              <a:t>Data analyses</a:t>
            </a:r>
            <a:r>
              <a:rPr b="1" lang="en-GB" sz="4700">
                <a:solidFill>
                  <a:srgbClr val="9D41F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4700">
              <a:solidFill>
                <a:srgbClr val="9D41F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D41F9"/>
              </a:buClr>
              <a:buSzPts val="2700"/>
              <a:buFont typeface="Calibri"/>
              <a:buNone/>
            </a:pPr>
            <a:r>
              <a:t/>
            </a:r>
            <a:endParaRPr i="1" sz="32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2"/>
          <p:cNvSpPr txBox="1"/>
          <p:nvPr/>
        </p:nvSpPr>
        <p:spPr>
          <a:xfrm>
            <a:off x="439828" y="367400"/>
            <a:ext cx="71127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D41F9"/>
              </a:buClr>
              <a:buSzPts val="2700"/>
              <a:buFont typeface="Calibri"/>
              <a:buNone/>
            </a:pPr>
            <a:r>
              <a:t/>
            </a:r>
            <a:endParaRPr b="1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42"/>
          <p:cNvSpPr txBox="1"/>
          <p:nvPr/>
        </p:nvSpPr>
        <p:spPr>
          <a:xfrm>
            <a:off x="351122" y="1804151"/>
            <a:ext cx="50547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1" lang="en-GB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eep learning Pipeline</a:t>
            </a:r>
            <a:endParaRPr/>
          </a:p>
        </p:txBody>
      </p:sp>
      <p:sp>
        <p:nvSpPr>
          <p:cNvPr id="256" name="Google Shape;256;p42"/>
          <p:cNvSpPr txBox="1"/>
          <p:nvPr/>
        </p:nvSpPr>
        <p:spPr>
          <a:xfrm>
            <a:off x="390215" y="2270720"/>
            <a:ext cx="4596600" cy="19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286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41F9"/>
              </a:buClr>
              <a:buSzPts val="2000"/>
              <a:buChar char="•"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</a:t>
            </a: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Preparation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41F9"/>
              </a:buClr>
              <a:buSzPts val="2000"/>
              <a:buChar char="•"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Definition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41F9"/>
              </a:buClr>
              <a:buSzPts val="2000"/>
              <a:buChar char="•"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Training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41F9"/>
              </a:buClr>
              <a:buSzPts val="2000"/>
              <a:buChar char="•"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Improvement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41F9"/>
              </a:buClr>
              <a:buSzPts val="2000"/>
              <a:buChar char="•"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Evaluation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1600" lvl="0" marL="215900" marR="0" rtl="0" algn="l">
              <a:spcBef>
                <a:spcPts val="0"/>
              </a:spcBef>
              <a:spcAft>
                <a:spcPts val="0"/>
              </a:spcAft>
              <a:buClr>
                <a:srgbClr val="9D41F9"/>
              </a:buClr>
              <a:buSzPts val="18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42"/>
          <p:cNvSpPr txBox="1"/>
          <p:nvPr/>
        </p:nvSpPr>
        <p:spPr>
          <a:xfrm>
            <a:off x="5691750" y="1106950"/>
            <a:ext cx="2916900" cy="35478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41F9"/>
              </a:buClr>
              <a:buSzPts val="27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🟦 </a:t>
            </a: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Machine Learning Models </a:t>
            </a:r>
            <a:br>
              <a:rPr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Calibri"/>
              <a:buChar char="●"/>
            </a:pPr>
            <a:r>
              <a:rPr b="1" lang="en-GB" sz="18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rPr>
              <a:t>Logistic regression</a:t>
            </a:r>
            <a:endParaRPr sz="1800">
              <a:solidFill>
                <a:srgbClr val="75757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Calibri"/>
              <a:buChar char="●"/>
            </a:pPr>
            <a:r>
              <a:rPr b="1" lang="en-GB" sz="18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endParaRPr sz="1800">
              <a:solidFill>
                <a:srgbClr val="75757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4A86E8"/>
              </a:buClr>
              <a:buSzPts val="1800"/>
              <a:buFont typeface="Calibri"/>
              <a:buChar char="●"/>
            </a:pPr>
            <a:r>
              <a:rPr b="1" lang="en-GB" sz="18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rPr>
              <a:t>XGBoost</a:t>
            </a:r>
            <a:endParaRPr b="1" sz="1800">
              <a:solidFill>
                <a:srgbClr val="75757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75757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🟪 Deep Learning Models 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9065E5"/>
              </a:buClr>
              <a:buSzPts val="1600"/>
              <a:buFont typeface="Calibri"/>
              <a:buChar char="●"/>
            </a:pPr>
            <a:r>
              <a:rPr b="1"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Deep Feed Forward Neural Network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9065E5"/>
              </a:buClr>
              <a:buSzPts val="1600"/>
              <a:buFont typeface="Calibri"/>
              <a:buChar char="●"/>
            </a:pPr>
            <a:r>
              <a:rPr b="1"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Tabnet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42"/>
          <p:cNvSpPr txBox="1"/>
          <p:nvPr/>
        </p:nvSpPr>
        <p:spPr>
          <a:xfrm>
            <a:off x="942073" y="714998"/>
            <a:ext cx="17739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solidFill>
                  <a:srgbClr val="9D41F9"/>
                </a:solidFill>
                <a:latin typeface="Calibri"/>
                <a:ea typeface="Calibri"/>
                <a:cs typeface="Calibri"/>
                <a:sym typeface="Calibri"/>
              </a:rPr>
              <a:t>Data analyses</a:t>
            </a:r>
            <a:endParaRPr i="1" sz="1800">
              <a:solidFill>
                <a:srgbClr val="9D41F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3"/>
          <p:cNvSpPr txBox="1"/>
          <p:nvPr>
            <p:ph type="title"/>
          </p:nvPr>
        </p:nvSpPr>
        <p:spPr>
          <a:xfrm>
            <a:off x="372050" y="1553275"/>
            <a:ext cx="8343000" cy="199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D41F9"/>
              </a:buClr>
              <a:buSzPts val="2700"/>
              <a:buFont typeface="Calibri"/>
              <a:buNone/>
            </a:pPr>
            <a:r>
              <a:rPr b="1" lang="en-GB" sz="4700">
                <a:solidFill>
                  <a:srgbClr val="9D41F9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r>
              <a:rPr b="1" lang="en-GB" sz="4700">
                <a:solidFill>
                  <a:srgbClr val="9D41F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4700">
              <a:solidFill>
                <a:srgbClr val="9D41F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D41F9"/>
              </a:buClr>
              <a:buSzPts val="2700"/>
              <a:buFont typeface="Calibri"/>
              <a:buNone/>
            </a:pPr>
            <a:r>
              <a:t/>
            </a:r>
            <a:endParaRPr i="1" sz="32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4"/>
          <p:cNvSpPr txBox="1"/>
          <p:nvPr/>
        </p:nvSpPr>
        <p:spPr>
          <a:xfrm>
            <a:off x="4673450" y="1207250"/>
            <a:ext cx="4317300" cy="3869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--- Training Model (Deep Learning Model) ---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Accuracy on Test Set: </a:t>
            </a:r>
            <a:r>
              <a:rPr b="1" lang="en-GB"/>
              <a:t>0.57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--- Confusion Matrix ---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Predicted 0 | Predicted 1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 Actual 0:        544 |         49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 Actual 1:        340 |         67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Classification Report: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 precision    recall  f1-score   support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0      </a:t>
            </a:r>
            <a:r>
              <a:rPr b="1" lang="en-GB">
                <a:solidFill>
                  <a:schemeClr val="accent3"/>
                </a:solidFill>
              </a:rPr>
              <a:t> 0.66      0.58      0.62</a:t>
            </a:r>
            <a:r>
              <a:rPr lang="en-GB"/>
              <a:t>       602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1       </a:t>
            </a:r>
            <a:r>
              <a:rPr b="1" lang="en-GB">
                <a:solidFill>
                  <a:schemeClr val="accent2"/>
                </a:solidFill>
              </a:rPr>
              <a:t>0.46      0.55      0.50</a:t>
            </a:r>
            <a:r>
              <a:rPr lang="en-GB"/>
              <a:t>       398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</a:t>
            </a:r>
            <a:endParaRPr/>
          </a:p>
        </p:txBody>
      </p:sp>
      <p:sp>
        <p:nvSpPr>
          <p:cNvPr id="269" name="Google Shape;269;p44"/>
          <p:cNvSpPr txBox="1"/>
          <p:nvPr/>
        </p:nvSpPr>
        <p:spPr>
          <a:xfrm>
            <a:off x="628650" y="399950"/>
            <a:ext cx="64179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solidFill>
                  <a:srgbClr val="9D41F9"/>
                </a:solidFill>
                <a:latin typeface="Calibri"/>
                <a:ea typeface="Calibri"/>
                <a:cs typeface="Calibri"/>
                <a:sym typeface="Calibri"/>
              </a:rPr>
              <a:t>Model 1 (Deep Feed Forward 32 Neurons)</a:t>
            </a:r>
            <a:endParaRPr/>
          </a:p>
        </p:txBody>
      </p:sp>
      <p:pic>
        <p:nvPicPr>
          <p:cNvPr id="270" name="Google Shape;270;p44" title="signal-2026-05-04-10483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75" y="1207250"/>
            <a:ext cx="4368650" cy="3083289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44"/>
          <p:cNvSpPr txBox="1"/>
          <p:nvPr/>
        </p:nvSpPr>
        <p:spPr>
          <a:xfrm>
            <a:off x="0" y="4189200"/>
            <a:ext cx="46623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dk1"/>
                </a:solidFill>
              </a:rPr>
              <a:t>Key Observations</a:t>
            </a:r>
            <a:r>
              <a:rPr lang="en-GB" sz="1000">
                <a:solidFill>
                  <a:schemeClr val="dk1"/>
                </a:solidFill>
              </a:rPr>
              <a:t>: </a:t>
            </a:r>
            <a:br>
              <a:rPr lang="en-GB" sz="1000">
                <a:solidFill>
                  <a:schemeClr val="dk1"/>
                </a:solidFill>
              </a:rPr>
            </a:br>
            <a:r>
              <a:rPr lang="en-GB" sz="1000">
                <a:solidFill>
                  <a:schemeClr val="dk1"/>
                </a:solidFill>
              </a:rPr>
              <a:t>Training Loss - Keeps steadily decreasing and the model is continuously improving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</a:rPr>
              <a:t>Validation Loss - It decreases at first, then flattens out and begins to increase slightly, indicating that the model is overfitting. 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5"/>
          <p:cNvSpPr txBox="1"/>
          <p:nvPr/>
        </p:nvSpPr>
        <p:spPr>
          <a:xfrm>
            <a:off x="4673450" y="1207250"/>
            <a:ext cx="4317300" cy="3869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--- Training Model (Deep Learning Model) ---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Accuracy on Test Set: </a:t>
            </a:r>
            <a:r>
              <a:rPr b="1" lang="en-GB"/>
              <a:t>0.58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--- Confusion Matrix ---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Predicted 0 | Predicted 1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 Actual 0:        544 |         49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 Actual 1:        340 |         67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Classification Report: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 precision    recall  f1-score   support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0      </a:t>
            </a:r>
            <a:r>
              <a:rPr b="1" lang="en-GB">
                <a:solidFill>
                  <a:schemeClr val="accent3"/>
                </a:solidFill>
              </a:rPr>
              <a:t> 0.65      0.59      0.62</a:t>
            </a:r>
            <a:r>
              <a:rPr lang="en-GB"/>
              <a:t>       602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1       </a:t>
            </a:r>
            <a:r>
              <a:rPr b="1" lang="en-GB">
                <a:solidFill>
                  <a:schemeClr val="accent2"/>
                </a:solidFill>
              </a:rPr>
              <a:t>0.46      0.53      0.49</a:t>
            </a:r>
            <a:r>
              <a:rPr lang="en-GB"/>
              <a:t>       398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</a:t>
            </a:r>
            <a:endParaRPr/>
          </a:p>
        </p:txBody>
      </p:sp>
      <p:pic>
        <p:nvPicPr>
          <p:cNvPr id="277" name="Google Shape;277;p45" title="signal-2026-05-04-104851_00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900" y="1221950"/>
            <a:ext cx="4386150" cy="286072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45"/>
          <p:cNvSpPr txBox="1"/>
          <p:nvPr/>
        </p:nvSpPr>
        <p:spPr>
          <a:xfrm>
            <a:off x="628650" y="399950"/>
            <a:ext cx="6417900" cy="8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solidFill>
                  <a:srgbClr val="9D41F9"/>
                </a:solidFill>
                <a:latin typeface="Calibri"/>
                <a:ea typeface="Calibri"/>
                <a:cs typeface="Calibri"/>
                <a:sym typeface="Calibri"/>
              </a:rPr>
              <a:t>Model 1 (Deep Feed Forward 32 Neurons, with regularization and early stopping)</a:t>
            </a:r>
            <a:endParaRPr/>
          </a:p>
        </p:txBody>
      </p:sp>
      <p:sp>
        <p:nvSpPr>
          <p:cNvPr id="279" name="Google Shape;279;p45"/>
          <p:cNvSpPr txBox="1"/>
          <p:nvPr/>
        </p:nvSpPr>
        <p:spPr>
          <a:xfrm>
            <a:off x="0" y="4082675"/>
            <a:ext cx="42495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dk1"/>
                </a:solidFill>
              </a:rPr>
              <a:t>Key Observations</a:t>
            </a:r>
            <a:r>
              <a:rPr lang="en-GB" sz="1000">
                <a:solidFill>
                  <a:schemeClr val="dk1"/>
                </a:solidFill>
              </a:rPr>
              <a:t>: </a:t>
            </a:r>
            <a:br>
              <a:rPr lang="en-GB" sz="1000">
                <a:solidFill>
                  <a:schemeClr val="dk1"/>
                </a:solidFill>
              </a:rPr>
            </a:br>
            <a:r>
              <a:rPr lang="en-GB" sz="1000">
                <a:solidFill>
                  <a:schemeClr val="dk1"/>
                </a:solidFill>
              </a:rPr>
              <a:t>Training Loss - There is a decreasing trend that indicates that the dataset is noisy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</a:rPr>
              <a:t>Validation Loss - Decreases at first then flattens and slightly increases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Both curves go down → Indicating that training keeps on improving and validation stops improving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6"/>
          <p:cNvSpPr txBox="1"/>
          <p:nvPr/>
        </p:nvSpPr>
        <p:spPr>
          <a:xfrm>
            <a:off x="4673450" y="1207250"/>
            <a:ext cx="4317300" cy="3869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--- Training Model (Deep Learning Model) ---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Accuracy on Test Set: </a:t>
            </a:r>
            <a:r>
              <a:rPr b="1" lang="en-GB"/>
              <a:t>0.56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--- Confusion Matrix ---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Predicted 0 | Predicted 1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 Actual 0:        </a:t>
            </a:r>
            <a:r>
              <a:rPr lang="en-GB"/>
              <a:t>545 </a:t>
            </a:r>
            <a:r>
              <a:rPr lang="en-GB"/>
              <a:t>|         49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 Actual 1:        340 |         67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Classification Report: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 precision    recall  f1-score   support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0      </a:t>
            </a:r>
            <a:r>
              <a:rPr b="1" lang="en-GB">
                <a:solidFill>
                  <a:schemeClr val="accent3"/>
                </a:solidFill>
              </a:rPr>
              <a:t> 0.67      0.58      0.62</a:t>
            </a:r>
            <a:r>
              <a:rPr lang="en-GB"/>
              <a:t>       602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1       </a:t>
            </a:r>
            <a:r>
              <a:rPr b="1" lang="en-GB">
                <a:solidFill>
                  <a:schemeClr val="accent2"/>
                </a:solidFill>
              </a:rPr>
              <a:t>0.47      0.57      0.51</a:t>
            </a:r>
            <a:r>
              <a:rPr lang="en-GB"/>
              <a:t>       398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</a:t>
            </a:r>
            <a:endParaRPr/>
          </a:p>
        </p:txBody>
      </p:sp>
      <p:sp>
        <p:nvSpPr>
          <p:cNvPr id="285" name="Google Shape;285;p46"/>
          <p:cNvSpPr txBox="1"/>
          <p:nvPr/>
        </p:nvSpPr>
        <p:spPr>
          <a:xfrm>
            <a:off x="628650" y="399950"/>
            <a:ext cx="64179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solidFill>
                  <a:srgbClr val="9D41F9"/>
                </a:solidFill>
                <a:latin typeface="Calibri"/>
                <a:ea typeface="Calibri"/>
                <a:cs typeface="Calibri"/>
                <a:sym typeface="Calibri"/>
              </a:rPr>
              <a:t>Model 1 (Deep Feed Forward 64 Neurons)</a:t>
            </a:r>
            <a:endParaRPr/>
          </a:p>
        </p:txBody>
      </p:sp>
      <p:pic>
        <p:nvPicPr>
          <p:cNvPr id="286" name="Google Shape;286;p46" title="signal-2026-05-04-105405_00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975" y="1254125"/>
            <a:ext cx="4493024" cy="288957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46"/>
          <p:cNvSpPr txBox="1"/>
          <p:nvPr/>
        </p:nvSpPr>
        <p:spPr>
          <a:xfrm>
            <a:off x="0" y="4082675"/>
            <a:ext cx="4249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dk1"/>
                </a:solidFill>
              </a:rPr>
              <a:t>Key Observations</a:t>
            </a:r>
            <a:r>
              <a:rPr lang="en-GB" sz="1000">
                <a:solidFill>
                  <a:schemeClr val="dk1"/>
                </a:solidFill>
              </a:rPr>
              <a:t>: </a:t>
            </a:r>
            <a:br>
              <a:rPr lang="en-GB" sz="1000">
                <a:solidFill>
                  <a:schemeClr val="dk1"/>
                </a:solidFill>
              </a:rPr>
            </a:br>
            <a:r>
              <a:rPr lang="en-GB" sz="1000">
                <a:solidFill>
                  <a:schemeClr val="dk1"/>
                </a:solidFill>
              </a:rPr>
              <a:t>Training Loss - There is a decreasing trend that indicates that the dataset is slightly noisy but normal. Ends lower then validation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</a:rPr>
              <a:t>Validation Loss - Decreases </a:t>
            </a:r>
            <a:r>
              <a:rPr lang="en-GB" sz="1000">
                <a:solidFill>
                  <a:schemeClr val="dk1"/>
                </a:solidFill>
              </a:rPr>
              <a:t>initially</a:t>
            </a:r>
            <a:r>
              <a:rPr lang="en-GB" sz="1000">
                <a:solidFill>
                  <a:schemeClr val="dk1"/>
                </a:solidFill>
              </a:rPr>
              <a:t> but the training keeps improving and validation gets worse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7"/>
          <p:cNvSpPr txBox="1"/>
          <p:nvPr/>
        </p:nvSpPr>
        <p:spPr>
          <a:xfrm>
            <a:off x="4673450" y="1207250"/>
            <a:ext cx="4317300" cy="3869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--- Training Model (Deep Learning Model) ---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Accuracy on Test Set: </a:t>
            </a:r>
            <a:r>
              <a:rPr b="1" lang="en-GB"/>
              <a:t>0.57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--- Confusion Matrix ---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Predicted 0 | Predicted 1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 Actual 0:        367 |         235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 Actual 1:        193 |         205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Classification Report: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 precision    recall  f1-score   support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0      </a:t>
            </a:r>
            <a:r>
              <a:rPr b="1" lang="en-GB">
                <a:solidFill>
                  <a:schemeClr val="accent3"/>
                </a:solidFill>
              </a:rPr>
              <a:t> 0.66      0.61      0.63</a:t>
            </a:r>
            <a:r>
              <a:rPr lang="en-GB"/>
              <a:t>       602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1       </a:t>
            </a:r>
            <a:r>
              <a:rPr b="1" lang="en-GB">
                <a:solidFill>
                  <a:schemeClr val="accent2"/>
                </a:solidFill>
              </a:rPr>
              <a:t>0.47      0.52      0.49</a:t>
            </a:r>
            <a:r>
              <a:rPr lang="en-GB"/>
              <a:t>       398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</a:t>
            </a:r>
            <a:endParaRPr/>
          </a:p>
        </p:txBody>
      </p:sp>
      <p:sp>
        <p:nvSpPr>
          <p:cNvPr id="293" name="Google Shape;293;p47"/>
          <p:cNvSpPr txBox="1"/>
          <p:nvPr/>
        </p:nvSpPr>
        <p:spPr>
          <a:xfrm>
            <a:off x="628650" y="399950"/>
            <a:ext cx="6417900" cy="8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solidFill>
                  <a:srgbClr val="9D41F9"/>
                </a:solidFill>
                <a:latin typeface="Calibri"/>
                <a:ea typeface="Calibri"/>
                <a:cs typeface="Calibri"/>
                <a:sym typeface="Calibri"/>
              </a:rPr>
              <a:t>Model 1 (Deep Feed Forward 64 Neurons, </a:t>
            </a:r>
            <a:r>
              <a:rPr i="1" lang="en-GB" sz="2300">
                <a:solidFill>
                  <a:srgbClr val="9D41F9"/>
                </a:solidFill>
                <a:latin typeface="Calibri"/>
                <a:ea typeface="Calibri"/>
                <a:cs typeface="Calibri"/>
                <a:sym typeface="Calibri"/>
              </a:rPr>
              <a:t>with regularization and early stopping</a:t>
            </a:r>
            <a:r>
              <a:rPr i="1" lang="en-GB" sz="2300">
                <a:solidFill>
                  <a:srgbClr val="9D41F9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pic>
        <p:nvPicPr>
          <p:cNvPr id="294" name="Google Shape;29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50" y="1374350"/>
            <a:ext cx="4480600" cy="2708325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47"/>
          <p:cNvSpPr txBox="1"/>
          <p:nvPr/>
        </p:nvSpPr>
        <p:spPr>
          <a:xfrm>
            <a:off x="0" y="4082675"/>
            <a:ext cx="4249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dk1"/>
                </a:solidFill>
              </a:rPr>
              <a:t>Key Observations</a:t>
            </a:r>
            <a:r>
              <a:rPr lang="en-GB" sz="1000">
                <a:solidFill>
                  <a:schemeClr val="dk1"/>
                </a:solidFill>
              </a:rPr>
              <a:t>: </a:t>
            </a:r>
            <a:br>
              <a:rPr lang="en-GB" sz="1000">
                <a:solidFill>
                  <a:schemeClr val="dk1"/>
                </a:solidFill>
              </a:rPr>
            </a:br>
            <a:r>
              <a:rPr lang="en-GB" sz="1000">
                <a:solidFill>
                  <a:schemeClr val="dk1"/>
                </a:solidFill>
              </a:rPr>
              <a:t>Training Loss - </a:t>
            </a:r>
            <a:r>
              <a:rPr lang="en-GB" sz="1000">
                <a:solidFill>
                  <a:schemeClr val="dk1"/>
                </a:solidFill>
              </a:rPr>
              <a:t>Steadily decreases throughout training.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</a:rPr>
              <a:t>This means the model is continuously getting better at fitting the training data.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</a:rPr>
              <a:t>Validation Loss - </a:t>
            </a:r>
            <a:r>
              <a:rPr lang="en-GB" sz="1000">
                <a:solidFill>
                  <a:schemeClr val="dk1"/>
                </a:solidFill>
              </a:rPr>
              <a:t>The curve drops at the start, indicating that the model is generalizing well and learning underlying patterns from the data. 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8"/>
          <p:cNvSpPr txBox="1"/>
          <p:nvPr/>
        </p:nvSpPr>
        <p:spPr>
          <a:xfrm>
            <a:off x="4673450" y="1207250"/>
            <a:ext cx="4317300" cy="3869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--- Training Model (Deep Learning Model) ---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Accuracy on Test Set: </a:t>
            </a:r>
            <a:r>
              <a:rPr b="1" lang="en-GB"/>
              <a:t>0.59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--- Confusion Matrix ---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Predicted 0 | Predicted 1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 Actual 0:        570 |         32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 Actual 1:        371 |         27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Classification Report: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 precision    recall  f1-score   support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0      </a:t>
            </a:r>
            <a:r>
              <a:rPr b="1" lang="en-GB">
                <a:solidFill>
                  <a:schemeClr val="accent3"/>
                </a:solidFill>
              </a:rPr>
              <a:t> 0.61      0.95      0.74</a:t>
            </a:r>
            <a:r>
              <a:rPr lang="en-GB"/>
              <a:t>       602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1       </a:t>
            </a:r>
            <a:r>
              <a:rPr b="1" lang="en-GB">
                <a:solidFill>
                  <a:schemeClr val="accent2"/>
                </a:solidFill>
              </a:rPr>
              <a:t>0.46      0.07      0.12</a:t>
            </a:r>
            <a:r>
              <a:rPr lang="en-GB"/>
              <a:t>       398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</a:t>
            </a:r>
            <a:endParaRPr/>
          </a:p>
        </p:txBody>
      </p:sp>
      <p:sp>
        <p:nvSpPr>
          <p:cNvPr id="301" name="Google Shape;301;p48"/>
          <p:cNvSpPr txBox="1"/>
          <p:nvPr/>
        </p:nvSpPr>
        <p:spPr>
          <a:xfrm>
            <a:off x="628650" y="399950"/>
            <a:ext cx="64179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solidFill>
                  <a:srgbClr val="9D41F9"/>
                </a:solidFill>
                <a:latin typeface="Calibri"/>
                <a:ea typeface="Calibri"/>
                <a:cs typeface="Calibri"/>
                <a:sym typeface="Calibri"/>
              </a:rPr>
              <a:t>Model 2 (Tabnet)</a:t>
            </a:r>
            <a:endParaRPr/>
          </a:p>
        </p:txBody>
      </p:sp>
      <p:pic>
        <p:nvPicPr>
          <p:cNvPr id="302" name="Google Shape;302;p48" title="signal-2026-05-04-105826_00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375" y="903351"/>
            <a:ext cx="3995875" cy="31631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48"/>
          <p:cNvSpPr txBox="1"/>
          <p:nvPr/>
        </p:nvSpPr>
        <p:spPr>
          <a:xfrm>
            <a:off x="0" y="4082675"/>
            <a:ext cx="4461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dk1"/>
                </a:solidFill>
              </a:rPr>
              <a:t>Key Observations</a:t>
            </a:r>
            <a:r>
              <a:rPr lang="en-GB" sz="1000">
                <a:solidFill>
                  <a:schemeClr val="dk1"/>
                </a:solidFill>
              </a:rPr>
              <a:t>: </a:t>
            </a:r>
            <a:br>
              <a:rPr lang="en-GB" sz="1000">
                <a:solidFill>
                  <a:schemeClr val="dk1"/>
                </a:solidFill>
              </a:rPr>
            </a:br>
            <a:r>
              <a:rPr lang="en-GB" sz="1000">
                <a:solidFill>
                  <a:schemeClr val="dk1"/>
                </a:solidFill>
              </a:rPr>
              <a:t>Training Loss - Drops very quickly at the start (≈0.98 → ≈0.70 in a few epochs) and then flattens out around ~0.67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</a:rPr>
              <a:t>Validation Loss - The curve </a:t>
            </a:r>
            <a:r>
              <a:rPr lang="en-GB" sz="1000">
                <a:solidFill>
                  <a:schemeClr val="dk1"/>
                </a:solidFill>
              </a:rPr>
              <a:t>fluctuates</a:t>
            </a:r>
            <a:r>
              <a:rPr lang="en-GB" sz="1000">
                <a:solidFill>
                  <a:schemeClr val="dk1"/>
                </a:solidFill>
              </a:rPr>
              <a:t> quite a lot and there is no trend that indicates that it’s increasing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9"/>
          <p:cNvSpPr txBox="1"/>
          <p:nvPr>
            <p:ph type="title"/>
          </p:nvPr>
        </p:nvSpPr>
        <p:spPr>
          <a:xfrm>
            <a:off x="372050" y="1553275"/>
            <a:ext cx="8343000" cy="199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D41F9"/>
              </a:buClr>
              <a:buSzPts val="2700"/>
              <a:buFont typeface="Calibri"/>
              <a:buNone/>
            </a:pPr>
            <a:r>
              <a:rPr b="1" lang="en-GB" sz="4700">
                <a:solidFill>
                  <a:srgbClr val="9D41F9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r>
              <a:rPr b="1" lang="en-GB" sz="4700">
                <a:solidFill>
                  <a:srgbClr val="9D41F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4700">
              <a:solidFill>
                <a:srgbClr val="9D41F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D41F9"/>
              </a:buClr>
              <a:buSzPts val="2700"/>
              <a:buFont typeface="Calibri"/>
              <a:buNone/>
            </a:pPr>
            <a:r>
              <a:t/>
            </a:r>
            <a:endParaRPr i="1" sz="32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0"/>
          <p:cNvSpPr txBox="1"/>
          <p:nvPr/>
        </p:nvSpPr>
        <p:spPr>
          <a:xfrm>
            <a:off x="179375" y="218575"/>
            <a:ext cx="3899700" cy="50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D41F9"/>
              </a:buClr>
              <a:buSzPts val="2700"/>
              <a:buFont typeface="Calibri"/>
              <a:buNone/>
            </a:pPr>
            <a:r>
              <a:rPr b="1" lang="en-GB" sz="2700">
                <a:solidFill>
                  <a:srgbClr val="9D41F9"/>
                </a:solidFill>
                <a:latin typeface="Calibri"/>
                <a:ea typeface="Calibri"/>
                <a:cs typeface="Calibri"/>
                <a:sym typeface="Calibri"/>
              </a:rPr>
              <a:t>Comparison of the models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lay"/>
              <a:buNone/>
            </a:pPr>
            <a:r>
              <a:t/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4" name="Google Shape;314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7625" y="150725"/>
            <a:ext cx="3967300" cy="300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086100"/>
            <a:ext cx="5831000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1"/>
          <p:cNvSpPr txBox="1"/>
          <p:nvPr/>
        </p:nvSpPr>
        <p:spPr>
          <a:xfrm>
            <a:off x="439825" y="367400"/>
            <a:ext cx="84744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D41F9"/>
              </a:buClr>
              <a:buSzPts val="2700"/>
              <a:buFont typeface="Calibri"/>
              <a:buNone/>
            </a:pPr>
            <a:r>
              <a:rPr b="1" lang="en-GB" sz="2700">
                <a:solidFill>
                  <a:srgbClr val="9D41F9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1" lang="en-GB" sz="2700">
                <a:solidFill>
                  <a:srgbClr val="9D41F9"/>
                </a:solidFill>
                <a:latin typeface="Calibri"/>
                <a:ea typeface="Calibri"/>
                <a:cs typeface="Calibri"/>
                <a:sym typeface="Calibri"/>
              </a:rPr>
              <a:t>. Conclusion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lay"/>
              <a:buNone/>
            </a:pPr>
            <a:r>
              <a:t/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51"/>
          <p:cNvSpPr txBox="1"/>
          <p:nvPr/>
        </p:nvSpPr>
        <p:spPr>
          <a:xfrm>
            <a:off x="299550" y="1415100"/>
            <a:ext cx="4509600" cy="25251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Across all models, 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GB">
                <a:solidFill>
                  <a:schemeClr val="dk1"/>
                </a:solidFill>
              </a:rPr>
              <a:t>predictive quality is modest</a:t>
            </a:r>
            <a:r>
              <a:rPr lang="en-GB">
                <a:solidFill>
                  <a:schemeClr val="dk1"/>
                </a:solidFill>
              </a:rPr>
              <a:t>, 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GB">
                <a:solidFill>
                  <a:schemeClr val="dk1"/>
                </a:solidFill>
              </a:rPr>
              <a:t>detection of non divorce cases is moderate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GB">
                <a:solidFill>
                  <a:schemeClr val="dk1"/>
                </a:solidFill>
              </a:rPr>
              <a:t>detection of divorce cases is modera</a:t>
            </a:r>
            <a:r>
              <a:rPr lang="en-GB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The models require 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GB">
                <a:solidFill>
                  <a:schemeClr val="dk1"/>
                </a:solidFill>
              </a:rPr>
              <a:t>rebalancing, 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GB">
                <a:solidFill>
                  <a:schemeClr val="dk1"/>
                </a:solidFill>
              </a:rPr>
              <a:t>feature enhancement</a:t>
            </a:r>
            <a:endParaRPr b="1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</a:endParaRPr>
          </a:p>
        </p:txBody>
      </p:sp>
      <p:pic>
        <p:nvPicPr>
          <p:cNvPr id="322" name="Google Shape;322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9150" y="453850"/>
            <a:ext cx="4105075" cy="410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